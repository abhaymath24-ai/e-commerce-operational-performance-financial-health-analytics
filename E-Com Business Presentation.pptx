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0" d="100"/>
          <a:sy n="80" d="100"/>
        </p:scale>
        <p:origin x="754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46720" y="0"/>
            <a:ext cx="4142232" cy="6858000"/>
          </a:xfrm>
          <a:prstGeom prst="rect">
            <a:avLst/>
          </a:prstGeom>
          <a:solidFill>
            <a:srgbClr val="27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46720" y="5440680"/>
            <a:ext cx="4142232" cy="1417320"/>
          </a:xfrm>
          <a:prstGeom prst="rect">
            <a:avLst/>
          </a:prstGeom>
          <a:solidFill>
            <a:srgbClr val="A68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738360" y="822960"/>
            <a:ext cx="1143000" cy="1143000"/>
          </a:xfrm>
          <a:prstGeom prst="rect">
            <a:avLst/>
          </a:prstGeom>
          <a:solidFill>
            <a:srgbClr val="F6D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68580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27223A"/>
                </a:solidFill>
              </a:rPr>
              <a:t>E-Commerce Sales &amp;
Customer Analytics</a:t>
            </a:r>
          </a:p>
          <a:p>
            <a:pPr>
              <a:spcBef>
                <a:spcPts val="1400"/>
              </a:spcBef>
            </a:pPr>
            <a:r>
              <a:rPr sz="1900">
                <a:solidFill>
                  <a:srgbClr val="A68FDC"/>
                </a:solidFill>
              </a:rPr>
              <a:t>End-to-end Data Analyst project</a:t>
            </a:r>
          </a:p>
          <a:p>
            <a:pPr>
              <a:spcBef>
                <a:spcPts val="1200"/>
              </a:spcBef>
            </a:pPr>
            <a:r>
              <a:rPr sz="1400" b="1">
                <a:solidFill>
                  <a:srgbClr val="2D2B34"/>
                </a:solidFill>
              </a:rPr>
              <a:t>Python • SQL • Power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166360"/>
            <a:ext cx="6492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96670"/>
                </a:solidFill>
              </a:rPr>
              <a:t>Business focus: financial health, customers, orders,
payments, products and geographic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2468880"/>
            <a:ext cx="30175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INTERVIEW
CASE STUDY</a:t>
            </a:r>
          </a:p>
          <a:p>
            <a:pPr>
              <a:spcBef>
                <a:spcPts val="1200"/>
              </a:spcBef>
            </a:pPr>
            <a:r>
              <a:rPr sz="1200">
                <a:solidFill>
                  <a:srgbClr val="E8E0F8"/>
                </a:solidFill>
              </a:rPr>
              <a:t>From raw data → analysis → business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7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1. Business Problem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46304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8E0F8"/>
                </a:solidFill>
              </a:rPr>
              <a:t>PROJECT CONTEXT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960120"/>
            <a:ext cx="1920240" cy="347472"/>
          </a:xfrm>
          <a:prstGeom prst="roundRect">
            <a:avLst/>
          </a:prstGeom>
          <a:solidFill>
            <a:srgbClr val="E8E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1024128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7223A"/>
                </a:solidFill>
              </a:rPr>
              <a:t>BUSINESS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B34"/>
                </a:solidFill>
              </a:defRPr>
            </a:pPr>
            <a:r>
              <a:t>How is the e-commerce business performing across sales, customers, orders and payments?</a:t>
            </a:r>
          </a:p>
          <a:p>
            <a:pPr>
              <a:spcAft>
                <a:spcPts val="1000"/>
              </a:spcAft>
              <a:defRPr sz="1800">
                <a:solidFill>
                  <a:srgbClr val="2D2B34"/>
                </a:solidFill>
              </a:defRPr>
            </a:pPr>
            <a:r>
              <a:t>Which customer, product, category and city patterns are visible in the data?</a:t>
            </a:r>
          </a:p>
          <a:p>
            <a:pPr>
              <a:spcAft>
                <a:spcPts val="1000"/>
              </a:spcAft>
              <a:defRPr sz="1800">
                <a:solidFill>
                  <a:srgbClr val="2D2B34"/>
                </a:solidFill>
              </a:defRPr>
            </a:pPr>
            <a:r>
              <a:t>Where are the operational opportunities—especially cancellations, discounts and payment leakage?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051560"/>
            <a:ext cx="40690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8E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0" y="1371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7223A"/>
                </a:solidFill>
              </a:rPr>
              <a:t>Analytical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92024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2B34"/>
                </a:solidFill>
              </a:defRPr>
            </a:pPr>
            <a:r>
              <a:t>Customers</a:t>
            </a:r>
          </a:p>
          <a:p>
            <a:pPr>
              <a:spcAft>
                <a:spcPts val="1000"/>
              </a:spcAft>
              <a:defRPr sz="1400">
                <a:solidFill>
                  <a:srgbClr val="2D2B34"/>
                </a:solidFill>
              </a:defRPr>
            </a:pPr>
            <a:r>
              <a:t>Orders</a:t>
            </a:r>
          </a:p>
          <a:p>
            <a:pPr>
              <a:spcAft>
                <a:spcPts val="1000"/>
              </a:spcAft>
              <a:defRPr sz="1400">
                <a:solidFill>
                  <a:srgbClr val="2D2B34"/>
                </a:solidFill>
              </a:defRPr>
            </a:pPr>
            <a:r>
              <a:t>Payments</a:t>
            </a:r>
          </a:p>
          <a:p>
            <a:pPr>
              <a:spcAft>
                <a:spcPts val="1000"/>
              </a:spcAft>
              <a:defRPr sz="1400">
                <a:solidFill>
                  <a:srgbClr val="2D2B34"/>
                </a:solidFill>
              </a:defRPr>
            </a:pPr>
            <a:r>
              <a:t>Products</a:t>
            </a:r>
          </a:p>
          <a:p>
            <a:pPr>
              <a:spcAft>
                <a:spcPts val="1000"/>
              </a:spcAft>
              <a:defRPr sz="1400">
                <a:solidFill>
                  <a:srgbClr val="2D2B34"/>
                </a:solidFill>
              </a:defRPr>
            </a:pPr>
            <a:r>
              <a:t>Customer segments</a:t>
            </a:r>
          </a:p>
          <a:p>
            <a:pPr>
              <a:spcAft>
                <a:spcPts val="1000"/>
              </a:spcAft>
              <a:defRPr sz="1400">
                <a:solidFill>
                  <a:srgbClr val="2D2B34"/>
                </a:solidFill>
              </a:defRPr>
            </a:pPr>
            <a:r>
              <a:t>Geography</a:t>
            </a:r>
          </a:p>
          <a:p>
            <a:pPr>
              <a:spcAft>
                <a:spcPts val="1000"/>
              </a:spcAft>
              <a:defRPr sz="1400">
                <a:solidFill>
                  <a:srgbClr val="2D2B34"/>
                </a:solidFill>
              </a:defRPr>
            </a:pPr>
            <a:r>
              <a:t>Discounts &amp; order behavior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A68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881360" y="654710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6670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7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2. Data Preparation &amp; Analytical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46304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8E0F8"/>
                </a:solidFill>
              </a:rPr>
              <a:t>PYTHON / PANDAS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96012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8E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960120"/>
            <a:ext cx="73152" cy="1325880"/>
          </a:xfrm>
          <a:prstGeom prst="rect">
            <a:avLst/>
          </a:prstGeom>
          <a:solidFill>
            <a:srgbClr val="A68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124712"/>
            <a:ext cx="214883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96670"/>
                </a:solidFill>
              </a:rPr>
              <a:t>Customers</a:t>
            </a:r>
          </a:p>
          <a:p>
            <a:r>
              <a:rPr sz="2600" b="1">
                <a:solidFill>
                  <a:srgbClr val="27223A"/>
                </a:solidFill>
              </a:rPr>
              <a:t>10,000</a:t>
            </a:r>
          </a:p>
          <a:p>
            <a:r>
              <a:rPr sz="900">
                <a:solidFill>
                  <a:srgbClr val="696670"/>
                </a:solidFill>
              </a:rPr>
              <a:t>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96012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8E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83280" y="960120"/>
            <a:ext cx="73152" cy="1325880"/>
          </a:xfrm>
          <a:prstGeom prst="rect">
            <a:avLst/>
          </a:prstGeom>
          <a:solidFill>
            <a:srgbClr val="F6D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11880" y="1124712"/>
            <a:ext cx="214883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96670"/>
                </a:solidFill>
              </a:rPr>
              <a:t>Orders</a:t>
            </a:r>
          </a:p>
          <a:p>
            <a:r>
              <a:rPr sz="2600" b="1">
                <a:solidFill>
                  <a:srgbClr val="27223A"/>
                </a:solidFill>
              </a:rPr>
              <a:t>50,120</a:t>
            </a:r>
          </a:p>
          <a:p>
            <a:r>
              <a:rPr sz="900">
                <a:solidFill>
                  <a:srgbClr val="696670"/>
                </a:solidFill>
              </a:rPr>
              <a:t>initial records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96012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8E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960120"/>
            <a:ext cx="73152" cy="1325880"/>
          </a:xfrm>
          <a:prstGeom prst="rect">
            <a:avLst/>
          </a:prstGeom>
          <a:solidFill>
            <a:srgbClr val="A68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124712"/>
            <a:ext cx="214883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96670"/>
                </a:solidFill>
              </a:rPr>
              <a:t>Payments</a:t>
            </a:r>
          </a:p>
          <a:p>
            <a:r>
              <a:rPr sz="2600" b="1">
                <a:solidFill>
                  <a:srgbClr val="27223A"/>
                </a:solidFill>
              </a:rPr>
              <a:t>50,000</a:t>
            </a:r>
          </a:p>
          <a:p>
            <a:r>
              <a:rPr sz="900">
                <a:solidFill>
                  <a:srgbClr val="696670"/>
                </a:solidFill>
              </a:rPr>
              <a:t>records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96012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8E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961120" y="960120"/>
            <a:ext cx="73152" cy="1325880"/>
          </a:xfrm>
          <a:prstGeom prst="rect">
            <a:avLst/>
          </a:prstGeom>
          <a:solidFill>
            <a:srgbClr val="F6D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89720" y="1124712"/>
            <a:ext cx="214883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96670"/>
                </a:solidFill>
              </a:rPr>
              <a:t>Products</a:t>
            </a:r>
          </a:p>
          <a:p>
            <a:r>
              <a:rPr sz="2600" b="1">
                <a:solidFill>
                  <a:srgbClr val="27223A"/>
                </a:solidFill>
              </a:rPr>
              <a:t>20</a:t>
            </a:r>
          </a:p>
          <a:p>
            <a:r>
              <a:rPr sz="900">
                <a:solidFill>
                  <a:srgbClr val="696670"/>
                </a:solidFill>
              </a:rPr>
              <a:t>records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651760"/>
            <a:ext cx="2560320" cy="347472"/>
          </a:xfrm>
          <a:prstGeom prst="roundRect">
            <a:avLst/>
          </a:prstGeom>
          <a:solidFill>
            <a:srgbClr val="E8E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" y="2715768"/>
            <a:ext cx="23774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7223A"/>
                </a:solidFill>
              </a:rPr>
              <a:t>CLEANING &amp; TRANSFORMATION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063240"/>
            <a:ext cx="5486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2B34"/>
                </a:solidFill>
              </a:defRPr>
            </a:pPr>
            <a:r>
              <a:t>Handled missing customer Age and City values.</a:t>
            </a:r>
          </a:p>
          <a:p>
            <a:pPr>
              <a:spcAft>
                <a:spcPts val="1000"/>
              </a:spcAft>
              <a:defRPr sz="1400">
                <a:solidFill>
                  <a:srgbClr val="2D2B34"/>
                </a:solidFill>
              </a:defRPr>
            </a:pPr>
            <a:r>
              <a:t>Converted date fields to datetime for time-based analysis.</a:t>
            </a:r>
          </a:p>
          <a:p>
            <a:pPr>
              <a:spcAft>
                <a:spcPts val="1000"/>
              </a:spcAft>
              <a:defRPr sz="1400">
                <a:solidFill>
                  <a:srgbClr val="2D2B34"/>
                </a:solidFill>
              </a:defRPr>
            </a:pPr>
            <a:r>
              <a:t>Identified and removed 120 duplicate order rows.</a:t>
            </a:r>
          </a:p>
          <a:p>
            <a:pPr>
              <a:spcAft>
                <a:spcPts val="1000"/>
              </a:spcAft>
              <a:defRPr sz="1400">
                <a:solidFill>
                  <a:srgbClr val="2D2B34"/>
                </a:solidFill>
              </a:defRPr>
            </a:pPr>
            <a:r>
              <a:t>Handled missing order fields including Discount, Quantity and PaymentMethod.</a:t>
            </a:r>
          </a:p>
          <a:p>
            <a:pPr>
              <a:spcAft>
                <a:spcPts val="1000"/>
              </a:spcAft>
              <a:defRPr sz="1400">
                <a:solidFill>
                  <a:srgbClr val="2D2B34"/>
                </a:solidFill>
              </a:defRPr>
            </a:pPr>
            <a:r>
              <a:t>Created analytical fields such as DayOfWeek and DiscountBracket.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2651760"/>
            <a:ext cx="2011680" cy="347472"/>
          </a:xfrm>
          <a:prstGeom prst="roundRect">
            <a:avLst/>
          </a:prstGeom>
          <a:solidFill>
            <a:srgbClr val="E8E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47688" y="271576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7223A"/>
                </a:solidFill>
              </a:rPr>
              <a:t>ANALYTICAL FLOW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154680"/>
            <a:ext cx="1965960" cy="530352"/>
          </a:xfrm>
          <a:prstGeom prst="roundRect">
            <a:avLst/>
          </a:prstGeom>
          <a:solidFill>
            <a:srgbClr val="27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3273552"/>
            <a:ext cx="1965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Raw tables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3154680"/>
            <a:ext cx="1965960" cy="530352"/>
          </a:xfrm>
          <a:prstGeom prst="roundRect">
            <a:avLst/>
          </a:prstGeom>
          <a:solidFill>
            <a:srgbClr val="A68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61120" y="3273552"/>
            <a:ext cx="1965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Clean data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29400" y="4023360"/>
            <a:ext cx="1965960" cy="530352"/>
          </a:xfrm>
          <a:prstGeom prst="roundRect">
            <a:avLst/>
          </a:prstGeom>
          <a:solidFill>
            <a:srgbClr val="F6D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29400" y="4142232"/>
            <a:ext cx="1965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7223A"/>
                </a:solidFill>
              </a:rPr>
              <a:t>EDA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20" y="4023360"/>
            <a:ext cx="1965960" cy="530352"/>
          </a:xfrm>
          <a:prstGeom prst="roundRect">
            <a:avLst/>
          </a:prstGeom>
          <a:solidFill>
            <a:srgbClr val="A68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61120" y="4142232"/>
            <a:ext cx="1965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SQL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29400" y="4892040"/>
            <a:ext cx="1965960" cy="530352"/>
          </a:xfrm>
          <a:prstGeom prst="roundRect">
            <a:avLst/>
          </a:prstGeom>
          <a:solidFill>
            <a:srgbClr val="27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29400" y="5010912"/>
            <a:ext cx="1965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Power BI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A68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881360" y="654710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6670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7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3. Financial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46304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8E0F8"/>
                </a:solidFill>
              </a:rPr>
              <a:t>POWER BI • PAGE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96012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960120"/>
            <a:ext cx="73152" cy="1234440"/>
          </a:xfrm>
          <a:prstGeom prst="rect">
            <a:avLst/>
          </a:prstGeom>
          <a:solidFill>
            <a:srgbClr val="F6D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124712"/>
            <a:ext cx="21031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96670"/>
                </a:solidFill>
              </a:rPr>
              <a:t>Revenue</a:t>
            </a:r>
          </a:p>
          <a:p>
            <a:r>
              <a:rPr sz="2600" b="1">
                <a:solidFill>
                  <a:srgbClr val="27223A"/>
                </a:solidFill>
              </a:rPr>
              <a:t>$3.21M</a:t>
            </a:r>
          </a:p>
          <a:p>
            <a:r>
              <a:rPr sz="900">
                <a:solidFill>
                  <a:srgbClr val="696670"/>
                </a:solidFill>
              </a:rPr>
              <a:t>dashboard KPI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96012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37560" y="960120"/>
            <a:ext cx="73152" cy="1234440"/>
          </a:xfrm>
          <a:prstGeom prst="rect">
            <a:avLst/>
          </a:prstGeom>
          <a:solidFill>
            <a:srgbClr val="A68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66160" y="1124712"/>
            <a:ext cx="21031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96670"/>
                </a:solidFill>
              </a:rPr>
              <a:t>Orders</a:t>
            </a:r>
          </a:p>
          <a:p>
            <a:r>
              <a:rPr sz="2600" b="1">
                <a:solidFill>
                  <a:srgbClr val="27223A"/>
                </a:solidFill>
              </a:rPr>
              <a:t>≈46K</a:t>
            </a:r>
          </a:p>
          <a:p>
            <a:r>
              <a:rPr sz="900">
                <a:solidFill>
                  <a:srgbClr val="696670"/>
                </a:solidFill>
              </a:rPr>
              <a:t>dashboard KPI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96012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80760" y="960120"/>
            <a:ext cx="73152" cy="1234440"/>
          </a:xfrm>
          <a:prstGeom prst="rect">
            <a:avLst/>
          </a:prstGeom>
          <a:solidFill>
            <a:srgbClr val="F6D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124712"/>
            <a:ext cx="21031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96670"/>
                </a:solidFill>
              </a:rPr>
              <a:t>Average Order Value</a:t>
            </a:r>
          </a:p>
          <a:p>
            <a:r>
              <a:rPr sz="2600" b="1">
                <a:solidFill>
                  <a:srgbClr val="27223A"/>
                </a:solidFill>
              </a:rPr>
              <a:t>$69.9</a:t>
            </a:r>
          </a:p>
          <a:p>
            <a:r>
              <a:rPr sz="900">
                <a:solidFill>
                  <a:srgbClr val="696670"/>
                </a:solidFill>
              </a:rPr>
              <a:t>dashboard KPI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96012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23960" y="960120"/>
            <a:ext cx="73152" cy="1234440"/>
          </a:xfrm>
          <a:prstGeom prst="rect">
            <a:avLst/>
          </a:prstGeom>
          <a:solidFill>
            <a:srgbClr val="A68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52560" y="1124712"/>
            <a:ext cx="21031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96670"/>
                </a:solidFill>
              </a:rPr>
              <a:t>Cancellation Rate</a:t>
            </a:r>
          </a:p>
          <a:p>
            <a:r>
              <a:rPr sz="2600" b="1">
                <a:solidFill>
                  <a:srgbClr val="27223A"/>
                </a:solidFill>
              </a:rPr>
              <a:t>4.95%</a:t>
            </a:r>
          </a:p>
          <a:p>
            <a:r>
              <a:rPr sz="900">
                <a:solidFill>
                  <a:srgbClr val="696670"/>
                </a:solidFill>
              </a:rPr>
              <a:t>dashboard KPI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514600"/>
            <a:ext cx="2377440" cy="347472"/>
          </a:xfrm>
          <a:prstGeom prst="roundRect">
            <a:avLst/>
          </a:prstGeom>
          <a:solidFill>
            <a:srgbClr val="E8E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" y="2578608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7223A"/>
                </a:solidFill>
              </a:rPr>
              <a:t>WHAT THE DASHBOARD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926080"/>
            <a:ext cx="6492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2B34"/>
                </a:solidFill>
              </a:defRPr>
            </a:pPr>
            <a:r>
              <a:t>Monthly revenue trends highlight changes in sales performance over time.</a:t>
            </a:r>
          </a:p>
          <a:p>
            <a:pPr>
              <a:spcAft>
                <a:spcPts val="1000"/>
              </a:spcAft>
              <a:defRPr sz="1400">
                <a:solidFill>
                  <a:srgbClr val="2D2B34"/>
                </a:solidFill>
              </a:defRPr>
            </a:pPr>
            <a:r>
              <a:t>Category revenue identifies Electronics as the leading category in the displayed breakdown.</a:t>
            </a:r>
          </a:p>
          <a:p>
            <a:pPr>
              <a:spcAft>
                <a:spcPts val="1000"/>
              </a:spcAft>
              <a:defRPr sz="1400">
                <a:solidFill>
                  <a:srgbClr val="2D2B34"/>
                </a:solidFill>
              </a:defRPr>
            </a:pPr>
            <a:r>
              <a:t>Customer segments provide a view of revenue and order behavior across Regular, New and VIP customers.</a:t>
            </a:r>
          </a:p>
          <a:p>
            <a:pPr>
              <a:spcAft>
                <a:spcPts val="1000"/>
              </a:spcAft>
              <a:defRPr sz="1400">
                <a:solidFill>
                  <a:srgbClr val="2D2B34"/>
                </a:solidFill>
              </a:defRPr>
            </a:pPr>
            <a:r>
              <a:t>Payment method/status analysis connects financial performance with transaction outcomes.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2651760"/>
            <a:ext cx="3794760" cy="2606040"/>
          </a:xfrm>
          <a:prstGeom prst="roundRect">
            <a:avLst/>
          </a:prstGeom>
          <a:solidFill>
            <a:srgbClr val="E8E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55279" y="3017520"/>
            <a:ext cx="3463962" cy="16671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27223A"/>
                </a:solidFill>
              </a:rPr>
              <a:t>Business takeaway</a:t>
            </a:r>
          </a:p>
          <a:p>
            <a:pPr>
              <a:spcBef>
                <a:spcPts val="1000"/>
              </a:spcBef>
            </a:pPr>
            <a:r>
              <a:rPr sz="1300" dirty="0">
                <a:solidFill>
                  <a:srgbClr val="2D2B34"/>
                </a:solidFill>
              </a:rPr>
              <a:t>Revenue performance should be evaluated </a:t>
            </a:r>
            <a:endParaRPr lang="en-US" sz="1300" dirty="0">
              <a:solidFill>
                <a:srgbClr val="2D2B34"/>
              </a:solidFill>
            </a:endParaRPr>
          </a:p>
          <a:p>
            <a:pPr>
              <a:spcBef>
                <a:spcPts val="1000"/>
              </a:spcBef>
            </a:pPr>
            <a:r>
              <a:rPr sz="1300" dirty="0">
                <a:solidFill>
                  <a:srgbClr val="2D2B34"/>
                </a:solidFill>
              </a:rPr>
              <a:t>together with order volume and AOV so that </a:t>
            </a:r>
            <a:endParaRPr lang="en-US" sz="1300" dirty="0">
              <a:solidFill>
                <a:srgbClr val="2D2B34"/>
              </a:solidFill>
            </a:endParaRP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2D2B34"/>
                </a:solidFill>
              </a:rPr>
              <a:t>growth </a:t>
            </a:r>
            <a:r>
              <a:rPr sz="1300" dirty="0">
                <a:solidFill>
                  <a:srgbClr val="2D2B34"/>
                </a:solidFill>
              </a:rPr>
              <a:t>in sales value is not mistaken for </a:t>
            </a:r>
            <a:r>
              <a:rPr sz="1300">
                <a:solidFill>
                  <a:srgbClr val="2D2B34"/>
                </a:solidFill>
              </a:rPr>
              <a:t>growth </a:t>
            </a:r>
            <a:endParaRPr lang="en-US" sz="1300">
              <a:solidFill>
                <a:srgbClr val="2D2B34"/>
              </a:solidFill>
            </a:endParaRP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2D2B34"/>
                </a:solidFill>
              </a:rPr>
              <a:t>in </a:t>
            </a:r>
            <a:r>
              <a:rPr sz="1300" dirty="0">
                <a:solidFill>
                  <a:srgbClr val="2D2B34"/>
                </a:solidFill>
              </a:rPr>
              <a:t>customer demand.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A68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881360" y="654710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6670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7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4. Customer &amp; Operational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46304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8E0F8"/>
                </a:solidFill>
              </a:rPr>
              <a:t>POWER BI • PAGE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96012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960120"/>
            <a:ext cx="73152" cy="1234440"/>
          </a:xfrm>
          <a:prstGeom prst="rect">
            <a:avLst/>
          </a:prstGeom>
          <a:solidFill>
            <a:srgbClr val="A68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124712"/>
            <a:ext cx="214883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96670"/>
                </a:solidFill>
              </a:rPr>
              <a:t>Completed Orders</a:t>
            </a:r>
          </a:p>
          <a:p>
            <a:r>
              <a:rPr sz="2600" b="1">
                <a:solidFill>
                  <a:srgbClr val="27223A"/>
                </a:solidFill>
              </a:rPr>
              <a:t>≈92%</a:t>
            </a:r>
          </a:p>
          <a:p>
            <a:r>
              <a:rPr sz="900">
                <a:solidFill>
                  <a:srgbClr val="696670"/>
                </a:solidFill>
              </a:rPr>
              <a:t>reported share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96012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83280" y="960120"/>
            <a:ext cx="73152" cy="1234440"/>
          </a:xfrm>
          <a:prstGeom prst="rect">
            <a:avLst/>
          </a:prstGeom>
          <a:solidFill>
            <a:srgbClr val="F6D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11880" y="1124712"/>
            <a:ext cx="214883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96670"/>
                </a:solidFill>
              </a:rPr>
              <a:t>Payment Leakage</a:t>
            </a:r>
          </a:p>
          <a:p>
            <a:r>
              <a:rPr sz="2600" b="1">
                <a:solidFill>
                  <a:srgbClr val="27223A"/>
                </a:solidFill>
              </a:rPr>
              <a:t>6.86%</a:t>
            </a:r>
          </a:p>
          <a:p>
            <a:r>
              <a:rPr sz="900">
                <a:solidFill>
                  <a:srgbClr val="696670"/>
                </a:solidFill>
              </a:rPr>
              <a:t>reported metric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96012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960120"/>
            <a:ext cx="73152" cy="1234440"/>
          </a:xfrm>
          <a:prstGeom prst="rect">
            <a:avLst/>
          </a:prstGeom>
          <a:solidFill>
            <a:srgbClr val="A68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124712"/>
            <a:ext cx="214883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96670"/>
                </a:solidFill>
              </a:rPr>
              <a:t>Top Demand Window</a:t>
            </a:r>
          </a:p>
          <a:p>
            <a:r>
              <a:rPr sz="2600" b="1">
                <a:solidFill>
                  <a:srgbClr val="27223A"/>
                </a:solidFill>
              </a:rPr>
              <a:t>Fri–Sun</a:t>
            </a:r>
          </a:p>
          <a:p>
            <a:r>
              <a:rPr sz="900">
                <a:solidFill>
                  <a:srgbClr val="696670"/>
                </a:solidFill>
              </a:rPr>
              <a:t>order pattern in EDA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96012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961120" y="960120"/>
            <a:ext cx="73152" cy="1234440"/>
          </a:xfrm>
          <a:prstGeom prst="rect">
            <a:avLst/>
          </a:prstGeom>
          <a:solidFill>
            <a:srgbClr val="F6D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89720" y="1124712"/>
            <a:ext cx="214883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96670"/>
                </a:solidFill>
              </a:rPr>
              <a:t>Discount Completion</a:t>
            </a:r>
          </a:p>
          <a:p>
            <a:r>
              <a:rPr sz="2600" b="1">
                <a:solidFill>
                  <a:srgbClr val="27223A"/>
                </a:solidFill>
              </a:rPr>
              <a:t>≈92%</a:t>
            </a:r>
          </a:p>
          <a:p>
            <a:r>
              <a:rPr sz="900">
                <a:solidFill>
                  <a:srgbClr val="696670"/>
                </a:solidFill>
              </a:rPr>
              <a:t>across brackets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514600"/>
            <a:ext cx="2011680" cy="347472"/>
          </a:xfrm>
          <a:prstGeom prst="roundRect">
            <a:avLst/>
          </a:prstGeom>
          <a:solidFill>
            <a:srgbClr val="E8E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" y="257860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7223A"/>
                </a:solidFill>
              </a:rPr>
              <a:t>OPERATIONAL FINDINGS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926080"/>
            <a:ext cx="6400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2B34"/>
                </a:solidFill>
              </a:defRPr>
            </a:pPr>
            <a:r>
              <a:t>Completed orders dominate the order-status distribution.</a:t>
            </a:r>
          </a:p>
          <a:p>
            <a:pPr>
              <a:spcAft>
                <a:spcPts val="1000"/>
              </a:spcAft>
              <a:defRPr sz="1400">
                <a:solidFill>
                  <a:srgbClr val="2D2B34"/>
                </a:solidFill>
              </a:defRPr>
            </a:pPr>
            <a:r>
              <a:t>Order activity is highest across Friday–Sunday in the EDA.</a:t>
            </a:r>
          </a:p>
          <a:p>
            <a:pPr>
              <a:spcAft>
                <a:spcPts val="1000"/>
              </a:spcAft>
              <a:defRPr sz="1400">
                <a:solidFill>
                  <a:srgbClr val="2D2B34"/>
                </a:solidFill>
              </a:defRPr>
            </a:pPr>
            <a:r>
              <a:t>Low, Medium and High discount brackets show similar completion shares, so discount depth alone does not establish a completion-rate advantage.</a:t>
            </a:r>
          </a:p>
          <a:p>
            <a:pPr>
              <a:spcAft>
                <a:spcPts val="1000"/>
              </a:spcAft>
              <a:defRPr sz="1400">
                <a:solidFill>
                  <a:srgbClr val="2D2B34"/>
                </a:solidFill>
              </a:defRPr>
            </a:pPr>
            <a:r>
              <a:t>Payment leakage is a clear area for operational monitoring.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2651760"/>
            <a:ext cx="3977639" cy="2697480"/>
          </a:xfrm>
          <a:prstGeom prst="roundRect">
            <a:avLst/>
          </a:prstGeom>
          <a:solidFill>
            <a:srgbClr val="FFFFFF"/>
          </a:solidFill>
          <a:ln>
            <a:solidFill>
              <a:srgbClr val="E8E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0" y="2971800"/>
            <a:ext cx="3699090" cy="9848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27223A"/>
                </a:solidFill>
              </a:rPr>
              <a:t>Next analytical step</a:t>
            </a:r>
          </a:p>
          <a:p>
            <a:pPr>
              <a:spcBef>
                <a:spcPts val="900"/>
              </a:spcBef>
            </a:pPr>
            <a:r>
              <a:rPr sz="1300" dirty="0">
                <a:solidFill>
                  <a:srgbClr val="2D2B34"/>
                </a:solidFill>
              </a:rPr>
              <a:t>Compare discounts with revenue, quantity and</a:t>
            </a:r>
            <a:endParaRPr lang="en-US" sz="1300" dirty="0">
              <a:solidFill>
                <a:srgbClr val="2D2B34"/>
              </a:solidFill>
            </a:endParaRPr>
          </a:p>
          <a:p>
            <a:pPr>
              <a:spcBef>
                <a:spcPts val="900"/>
              </a:spcBef>
            </a:pPr>
            <a:r>
              <a:rPr sz="1300" dirty="0">
                <a:solidFill>
                  <a:srgbClr val="2D2B34"/>
                </a:solidFill>
              </a:rPr>
              <a:t>if available—margin, rather than order status alone.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A68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881360" y="654710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6670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7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5. SQL Analysis &amp; Business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46304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8E0F8"/>
                </a:solidFill>
              </a:rPr>
              <a:t>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960120"/>
            <a:ext cx="2560320" cy="347472"/>
          </a:xfrm>
          <a:prstGeom prst="roundRect">
            <a:avLst/>
          </a:prstGeom>
          <a:solidFill>
            <a:srgbClr val="E8E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1024128"/>
            <a:ext cx="23774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7223A"/>
                </a:solidFill>
              </a:rPr>
              <a:t>SQL CAPABILITIES DEMONSTRATED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5166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2B34"/>
                </a:solidFill>
              </a:defRPr>
            </a:pPr>
            <a:r>
              <a:t>Aggregations: COUNT, SUM, AVG</a:t>
            </a:r>
          </a:p>
          <a:p>
            <a:pPr>
              <a:spcAft>
                <a:spcPts val="1000"/>
              </a:spcAft>
              <a:defRPr sz="1400">
                <a:solidFill>
                  <a:srgbClr val="2D2B34"/>
                </a:solidFill>
              </a:defRPr>
            </a:pPr>
            <a:r>
              <a:t>Filtering: WHERE, HAVING</a:t>
            </a:r>
          </a:p>
          <a:p>
            <a:pPr>
              <a:spcAft>
                <a:spcPts val="1000"/>
              </a:spcAft>
              <a:defRPr sz="1400">
                <a:solidFill>
                  <a:srgbClr val="2D2B34"/>
                </a:solidFill>
              </a:defRPr>
            </a:pPr>
            <a:r>
              <a:t>Grouping &amp; ranking: GROUP BY, ORDER BY, LIMIT</a:t>
            </a:r>
          </a:p>
          <a:p>
            <a:pPr>
              <a:spcAft>
                <a:spcPts val="1000"/>
              </a:spcAft>
              <a:defRPr sz="1400">
                <a:solidFill>
                  <a:srgbClr val="2D2B34"/>
                </a:solidFill>
              </a:defRPr>
            </a:pPr>
            <a:r>
              <a:t>Joins across Orders, Customers and Products</a:t>
            </a:r>
          </a:p>
          <a:p>
            <a:pPr>
              <a:spcAft>
                <a:spcPts val="1000"/>
              </a:spcAft>
              <a:defRPr sz="1400">
                <a:solidFill>
                  <a:srgbClr val="2D2B34"/>
                </a:solidFill>
              </a:defRPr>
            </a:pPr>
            <a:r>
              <a:t>DISTINCT and subqueries</a:t>
            </a:r>
          </a:p>
          <a:p>
            <a:pPr>
              <a:spcAft>
                <a:spcPts val="1000"/>
              </a:spcAft>
              <a:defRPr sz="1400">
                <a:solidFill>
                  <a:srgbClr val="2D2B34"/>
                </a:solidFill>
              </a:defRPr>
            </a:pPr>
            <a:r>
              <a:t>Calculated business metrics such as revenue and AOV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51560"/>
            <a:ext cx="5212080" cy="4480560"/>
          </a:xfrm>
          <a:prstGeom prst="roundRect">
            <a:avLst/>
          </a:prstGeom>
          <a:solidFill>
            <a:srgbClr val="27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417320"/>
            <a:ext cx="4480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Business questions answered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011680"/>
            <a:ext cx="42976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E8E0F8"/>
                </a:solidFill>
              </a:defRPr>
            </a:pPr>
            <a:r>
              <a:t>• Which cities generate the most revenue?</a:t>
            </a:r>
          </a:p>
          <a:p>
            <a:pPr>
              <a:spcAft>
                <a:spcPts val="1000"/>
              </a:spcAft>
              <a:defRPr sz="1400">
                <a:solidFill>
                  <a:srgbClr val="E8E0F8"/>
                </a:solidFill>
              </a:defRPr>
            </a:pPr>
            <a:r>
              <a:t>• Which product categories drive revenue?</a:t>
            </a:r>
          </a:p>
          <a:p>
            <a:pPr>
              <a:spcAft>
                <a:spcPts val="1000"/>
              </a:spcAft>
              <a:defRPr sz="1400">
                <a:solidFill>
                  <a:srgbClr val="E8E0F8"/>
                </a:solidFill>
              </a:defRPr>
            </a:pPr>
            <a:r>
              <a:t>• What is the AOV by customer segment?</a:t>
            </a:r>
          </a:p>
          <a:p>
            <a:pPr>
              <a:spcAft>
                <a:spcPts val="1000"/>
              </a:spcAft>
              <a:defRPr sz="1400">
                <a:solidFill>
                  <a:srgbClr val="E8E0F8"/>
                </a:solidFill>
              </a:defRPr>
            </a:pPr>
            <a:r>
              <a:t>• Which customers are frequent shoppers?</a:t>
            </a:r>
          </a:p>
          <a:p>
            <a:pPr>
              <a:spcAft>
                <a:spcPts val="1000"/>
              </a:spcAft>
              <a:defRPr sz="1400">
                <a:solidFill>
                  <a:srgbClr val="E8E0F8"/>
                </a:solidFill>
              </a:defRPr>
            </a:pPr>
            <a:r>
              <a:t>• How are order statuses distributed?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A68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881360" y="654710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6670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7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6. Business Recommendations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46304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8E0F8"/>
                </a:solidFill>
              </a:rPr>
              <a:t>MANAGEMENT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960120"/>
            <a:ext cx="69037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8E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1115568"/>
            <a:ext cx="594360" cy="502920"/>
          </a:xfrm>
          <a:prstGeom prst="roundRect">
            <a:avLst/>
          </a:prstGeom>
          <a:solidFill>
            <a:srgbClr val="F6D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22529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7223A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088136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7223A"/>
                </a:solidFill>
              </a:rPr>
              <a:t>Reduce payment leakage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078992"/>
            <a:ext cx="3520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D2B34"/>
                </a:solidFill>
              </a:rPr>
              <a:t>Monitor failure rate and monetary loss by payment method.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92808"/>
            <a:ext cx="69037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8E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77240" y="2048256"/>
            <a:ext cx="594360" cy="502920"/>
          </a:xfrm>
          <a:prstGeom prst="roundRect">
            <a:avLst/>
          </a:prstGeom>
          <a:solidFill>
            <a:srgbClr val="F6D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157984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7223A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020824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7223A"/>
                </a:solidFill>
              </a:rPr>
              <a:t>Optimize promotions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011680"/>
            <a:ext cx="3520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D2B34"/>
                </a:solidFill>
              </a:rPr>
              <a:t>Test discount impact on revenue, quantity and margin.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825496"/>
            <a:ext cx="69037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8E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77240" y="2980944"/>
            <a:ext cx="594360" cy="502920"/>
          </a:xfrm>
          <a:prstGeom prst="roundRect">
            <a:avLst/>
          </a:prstGeom>
          <a:solidFill>
            <a:srgbClr val="F6D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09067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7223A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95351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7223A"/>
                </a:solidFill>
              </a:rPr>
              <a:t>Prioritize valuable customers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944368"/>
            <a:ext cx="3520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D2B34"/>
                </a:solidFill>
              </a:rPr>
              <a:t>Compare segments on revenue, frequency and AOV.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758184"/>
            <a:ext cx="69037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8E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77240" y="3913632"/>
            <a:ext cx="594360" cy="502920"/>
          </a:xfrm>
          <a:prstGeom prst="roundRect">
            <a:avLst/>
          </a:prstGeom>
          <a:solidFill>
            <a:srgbClr val="F6D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023360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7223A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886200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7223A"/>
                </a:solidFill>
              </a:rPr>
              <a:t>Use geography strategically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877056"/>
            <a:ext cx="3520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D2B34"/>
                </a:solidFill>
              </a:rPr>
              <a:t>Compare customer presence with revenue and order volume.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690872"/>
            <a:ext cx="69037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8E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77240" y="4846320"/>
            <a:ext cx="594360" cy="502920"/>
          </a:xfrm>
          <a:prstGeom prst="roundRect">
            <a:avLst/>
          </a:prstGeom>
          <a:solidFill>
            <a:srgbClr val="F6D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49560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7223A"/>
                </a:solidFill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818888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7223A"/>
                </a:solidFill>
              </a:rPr>
              <a:t>Investigate product drivers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809744"/>
            <a:ext cx="3520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D2B34"/>
                </a:solidFill>
              </a:rPr>
              <a:t>Separate price-driven from volume-driven category performance.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18120" y="960120"/>
            <a:ext cx="3703320" cy="4800600"/>
          </a:xfrm>
          <a:prstGeom prst="roundRect">
            <a:avLst/>
          </a:prstGeom>
          <a:solidFill>
            <a:srgbClr val="27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38160" y="1371600"/>
            <a:ext cx="3063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Project conclusion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2103120"/>
            <a:ext cx="3405356" cy="27238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E8E0F8"/>
                </a:solidFill>
              </a:rPr>
              <a:t>The project connects </a:t>
            </a:r>
            <a:endParaRPr lang="en-US" sz="1400" dirty="0">
              <a:solidFill>
                <a:srgbClr val="E8E0F8"/>
              </a:solidFill>
            </a:endParaRPr>
          </a:p>
          <a:p>
            <a:r>
              <a:rPr sz="1400" b="1" dirty="0">
                <a:solidFill>
                  <a:srgbClr val="F6DC5C"/>
                </a:solidFill>
              </a:rPr>
              <a:t>data cleaning → EDA → SQL → Power BI</a:t>
            </a:r>
          </a:p>
          <a:p>
            <a:pPr>
              <a:spcBef>
                <a:spcPts val="1300"/>
              </a:spcBef>
            </a:pPr>
            <a:r>
              <a:rPr sz="1300" dirty="0">
                <a:solidFill>
                  <a:srgbClr val="FFFFFF"/>
                </a:solidFill>
              </a:rPr>
              <a:t>It provides a structured view of financial, </a:t>
            </a:r>
            <a:endParaRPr lang="en-US" sz="1300" dirty="0">
              <a:solidFill>
                <a:srgbClr val="FFFFFF"/>
              </a:solidFill>
            </a:endParaRPr>
          </a:p>
          <a:p>
            <a:pPr>
              <a:spcBef>
                <a:spcPts val="1300"/>
              </a:spcBef>
            </a:pPr>
            <a:r>
              <a:rPr sz="1300" dirty="0">
                <a:solidFill>
                  <a:srgbClr val="FFFFFF"/>
                </a:solidFill>
              </a:rPr>
              <a:t>customer, product, geographic and operational </a:t>
            </a:r>
            <a:endParaRPr lang="en-US" sz="1300" dirty="0">
              <a:solidFill>
                <a:srgbClr val="FFFFFF"/>
              </a:solidFill>
            </a:endParaRPr>
          </a:p>
          <a:p>
            <a:pPr>
              <a:spcBef>
                <a:spcPts val="1300"/>
              </a:spcBef>
            </a:pPr>
            <a:r>
              <a:rPr sz="1300" dirty="0">
                <a:solidFill>
                  <a:srgbClr val="FFFFFF"/>
                </a:solidFill>
              </a:rPr>
              <a:t>performance.</a:t>
            </a:r>
          </a:p>
          <a:p>
            <a:pPr>
              <a:spcBef>
                <a:spcPts val="1300"/>
              </a:spcBef>
            </a:pPr>
            <a:r>
              <a:rPr sz="1300" dirty="0">
                <a:solidFill>
                  <a:srgbClr val="E8E0F8"/>
                </a:solidFill>
              </a:rPr>
              <a:t>Next analytical priority: quantify the drivers </a:t>
            </a:r>
            <a:endParaRPr lang="en-US" sz="1300" dirty="0">
              <a:solidFill>
                <a:srgbClr val="E8E0F8"/>
              </a:solidFill>
            </a:endParaRPr>
          </a:p>
          <a:p>
            <a:pPr>
              <a:spcBef>
                <a:spcPts val="1300"/>
              </a:spcBef>
            </a:pPr>
            <a:r>
              <a:rPr sz="1300">
                <a:solidFill>
                  <a:srgbClr val="E8E0F8"/>
                </a:solidFill>
              </a:rPr>
              <a:t>behind </a:t>
            </a:r>
            <a:r>
              <a:rPr sz="1300" dirty="0">
                <a:solidFill>
                  <a:srgbClr val="E8E0F8"/>
                </a:solidFill>
              </a:rPr>
              <a:t>revenue, payment leakage, </a:t>
            </a:r>
            <a:r>
              <a:rPr sz="1300">
                <a:solidFill>
                  <a:srgbClr val="E8E0F8"/>
                </a:solidFill>
              </a:rPr>
              <a:t>repeat </a:t>
            </a:r>
            <a:endParaRPr lang="en-US" sz="1300">
              <a:solidFill>
                <a:srgbClr val="E8E0F8"/>
              </a:solidFill>
            </a:endParaRPr>
          </a:p>
          <a:p>
            <a:pPr>
              <a:spcBef>
                <a:spcPts val="1300"/>
              </a:spcBef>
            </a:pPr>
            <a:r>
              <a:rPr sz="1300">
                <a:solidFill>
                  <a:srgbClr val="E8E0F8"/>
                </a:solidFill>
              </a:rPr>
              <a:t>behavior </a:t>
            </a:r>
            <a:r>
              <a:rPr sz="1300" dirty="0">
                <a:solidFill>
                  <a:srgbClr val="E8E0F8"/>
                </a:solidFill>
              </a:rPr>
              <a:t>and profitability.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498348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6DC5C"/>
                </a:solidFill>
              </a:rPr>
              <a:t>TOOLS  •  Python  •  SQL  •  Power BI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A68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881360" y="654710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6670"/>
                </a:solidFill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655</Words>
  <Application>Microsoft Office PowerPoint</Application>
  <PresentationFormat>Widescreen</PresentationFormat>
  <Paragraphs>140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abhay math</cp:lastModifiedBy>
  <cp:revision>3</cp:revision>
  <dcterms:created xsi:type="dcterms:W3CDTF">2013-01-27T09:14:16Z</dcterms:created>
  <dcterms:modified xsi:type="dcterms:W3CDTF">2026-09-26T08:31:31Z</dcterms:modified>
  <cp:category/>
</cp:coreProperties>
</file>